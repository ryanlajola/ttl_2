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Logic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Ryan Jhon Lee Lajola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to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Objectives</a:t>
            </a:r>
          </a:p>
          <a:p>
            <a:pPr lvl="0" indent="0" marL="0">
              <a:buNone/>
            </a:pPr>
            <a:r>
              <a:rPr/>
              <a:t>At the end of the lesson, the students are expected to:</a:t>
            </a:r>
          </a:p>
          <a:p>
            <a:pPr lvl="0" indent="-342900" marL="342900">
              <a:buAutoNum type="arabicPeriod"/>
            </a:pPr>
            <a:r>
              <a:rPr/>
              <a:t>Define and illustrate a </a:t>
            </a:r>
            <a:r>
              <a:rPr b="1"/>
              <a:t>proposition</a:t>
            </a:r>
            <a:br/>
          </a:p>
          <a:p>
            <a:pPr lvl="0" indent="-342900" marL="342900">
              <a:buAutoNum type="arabicPeriod"/>
            </a:pPr>
            <a:r>
              <a:rPr/>
              <a:t>Distinguish between </a:t>
            </a:r>
            <a:r>
              <a:rPr b="1"/>
              <a:t>simple</a:t>
            </a:r>
            <a:r>
              <a:rPr/>
              <a:t> and </a:t>
            </a:r>
            <a:r>
              <a:rPr b="1"/>
              <a:t>compound</a:t>
            </a:r>
            <a:r>
              <a:rPr/>
              <a:t> propositions</a:t>
            </a:r>
            <a:br/>
          </a:p>
          <a:p>
            <a:pPr lvl="0" indent="-342900" marL="342900">
              <a:buAutoNum type="arabicPeriod"/>
            </a:pPr>
            <a:r>
              <a:rPr/>
              <a:t>Demonstrate understanding of propositions through </a:t>
            </a:r>
            <a:r>
              <a:rPr b="1"/>
              <a:t>real-life applications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Content Standards</a:t>
            </a:r>
          </a:p>
          <a:p>
            <a:pPr lvl="0" indent="0" marL="0">
              <a:buNone/>
            </a:pPr>
            <a:r>
              <a:rPr/>
              <a:t>The learner demonstrates understanding of key concepts in </a:t>
            </a:r>
            <a:r>
              <a:rPr b="1"/>
              <a:t>propositional logic</a:t>
            </a:r>
            <a:r>
              <a:rPr/>
              <a:t>, </a:t>
            </a:r>
            <a:r>
              <a:rPr b="1"/>
              <a:t>syllogisms</a:t>
            </a:r>
            <a:r>
              <a:rPr/>
              <a:t>, and </a:t>
            </a:r>
            <a:r>
              <a:rPr b="1"/>
              <a:t>fallacies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Performance Standards</a:t>
            </a:r>
          </a:p>
          <a:p>
            <a:pPr lvl="0" indent="0" marL="0">
              <a:buNone/>
            </a:pPr>
            <a:r>
              <a:rPr/>
              <a:t>The learner is able to </a:t>
            </a:r>
            <a:r>
              <a:rPr b="1"/>
              <a:t>apply logic judiciously</a:t>
            </a:r>
            <a:r>
              <a:rPr/>
              <a:t> in real-life arguments.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Learning Competencies</a:t>
            </a:r>
          </a:p>
          <a:p>
            <a:pPr lvl="0"/>
            <a:r>
              <a:rPr/>
              <a:t>Illustrates and symbolizes propositions.</a:t>
            </a:r>
            <a:br/>
          </a:p>
          <a:p>
            <a:pPr lvl="0"/>
            <a:r>
              <a:rPr/>
              <a:t>Distinguishes between simple and compound propositions. (M11GM-IIg-3)</a:t>
            </a:r>
            <a:br/>
          </a:p>
          <a:p>
            <a:pPr lvl="0"/>
            <a:r>
              <a:rPr/>
              <a:t>Performs different types of operations on propositions. (M11GM-IIg-4)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Activity: </a:t>
            </a:r>
            <a:r>
              <a:rPr b="1" i="1"/>
              <a:t>Is it True?</a:t>
            </a:r>
          </a:p>
          <a:p>
            <a:pPr lvl="0" indent="0" marL="0">
              <a:buNone/>
            </a:pPr>
            <a:r>
              <a:rPr/>
              <a:t>Tell whether each item is </a:t>
            </a:r>
            <a:r>
              <a:rPr b="1"/>
              <a:t>true</a:t>
            </a:r>
            <a:r>
              <a:rPr/>
              <a:t>, </a:t>
            </a:r>
            <a:r>
              <a:rPr b="1"/>
              <a:t>false</a:t>
            </a:r>
            <a:r>
              <a:rPr/>
              <a:t>, or </a:t>
            </a:r>
            <a:r>
              <a:rPr b="1"/>
              <a:t>cannot be determined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Manila is the capital of the Philippines.</a:t>
            </a:r>
            <a:br/>
          </a:p>
          <a:p>
            <a:pPr lvl="0" indent="-342900" marL="342900">
              <a:buAutoNum type="arabicPeriod"/>
            </a:pPr>
            <a:r>
              <a:rPr/>
              <a:t>What is your favorite color?</a:t>
            </a:r>
            <a:br/>
          </a:p>
          <a:p>
            <a:pPr lvl="0" indent="-342900" marL="342900">
              <a:buAutoNum type="arabicPeriod"/>
            </a:pPr>
            <a:r>
              <a:rPr/>
              <a:t>4 + 2 = 7</a:t>
            </a:r>
            <a:br/>
          </a:p>
          <a:p>
            <a:pPr lvl="0" indent="-342900" marL="342900">
              <a:buAutoNum type="arabicPeriod"/>
            </a:pPr>
            <a:r>
              <a:rPr/>
              <a:t>Who invented the microscope?</a:t>
            </a:r>
            <a:br/>
          </a:p>
          <a:p>
            <a:pPr lvl="0" indent="-342900" marL="342900">
              <a:buAutoNum type="arabicPeriod"/>
            </a:pPr>
            <a:r>
              <a:rPr/>
              <a:t>The Earth is round.</a:t>
            </a:r>
          </a:p>
          <a:p>
            <a:pPr lvl="0" indent="0" marL="0">
              <a:buNone/>
            </a:pPr>
            <a:r>
              <a:rPr b="1"/>
              <a:t>Guide Answer:</a:t>
            </a:r>
            <a:br/>
            <a:r>
              <a:rPr/>
              <a:t>1 – True</a:t>
            </a:r>
            <a:br/>
            <a:r>
              <a:rPr/>
              <a:t>2 – Cannot be determined</a:t>
            </a:r>
            <a:br/>
            <a:r>
              <a:rPr/>
              <a:t>3 – False</a:t>
            </a:r>
            <a:br/>
            <a:r>
              <a:rPr/>
              <a:t>4 – Cannot be determined</a:t>
            </a:r>
            <a:br/>
            <a:r>
              <a:rPr/>
              <a:t>5 – True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Proposition?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proposition</a:t>
            </a:r>
            <a:r>
              <a:rPr/>
              <a:t> is a declarative sentence that is </a:t>
            </a:r>
            <a:r>
              <a:rPr b="1"/>
              <a:t>either true or false</a:t>
            </a:r>
            <a:r>
              <a:rPr/>
              <a:t>, but not both.</a:t>
            </a:r>
            <a:br/>
            <a:r>
              <a:rPr/>
              <a:t>If the proposition is true, its truth value is </a:t>
            </a:r>
            <a:r>
              <a:rPr b="1"/>
              <a:t>T</a:t>
            </a:r>
            <a:r>
              <a:rPr/>
              <a:t>.</a:t>
            </a:r>
            <a:br/>
            <a:r>
              <a:rPr/>
              <a:t>If the proposition is false, its truth value is </a:t>
            </a:r>
            <a:r>
              <a:rPr b="1"/>
              <a:t>F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Propositions are usually denoted by </a:t>
            </a:r>
            <a:r>
              <a:rPr b="1"/>
              <a:t>small letters</a:t>
            </a:r>
            <a:r>
              <a:rPr/>
              <a:t> such as </a:t>
            </a:r>
            <a:r>
              <a:rPr i="1"/>
              <a:t>p</a:t>
            </a:r>
            <a:r>
              <a:rPr/>
              <a:t>, </a:t>
            </a:r>
            <a:r>
              <a:rPr i="1"/>
              <a:t>q</a:t>
            </a:r>
            <a:r>
              <a:rPr/>
              <a:t>, </a:t>
            </a:r>
            <a:r>
              <a:rPr i="1"/>
              <a:t>r</a:t>
            </a:r>
            <a:r>
              <a:rPr/>
              <a:t>, etc.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/>
            <a:r>
              <a:rPr b="1"/>
              <a:t>p:</a:t>
            </a:r>
            <a:r>
              <a:rPr/>
              <a:t> “Everyone should study logic.”</a:t>
            </a:r>
          </a:p>
          <a:p>
            <a:pPr lvl="0" indent="0" marL="0">
              <a:buNone/>
            </a:pPr>
            <a:r>
              <a:rPr/>
              <a:t>We may write it symbolically as:</a:t>
            </a:r>
          </a:p>
          <a:p>
            <a:pPr lvl="0" indent="0" marL="1270000">
              <a:buNone/>
            </a:pPr>
            <a:r>
              <a:rPr sz="2000"/>
              <a:t>p is the proposition “Everyone should study logic.”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Types of Propositions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Proposition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simple proposition</a:t>
            </a:r>
            <a:r>
              <a:rPr/>
              <a:t> cannot be broken down into smaller propositions.</a:t>
            </a:r>
          </a:p>
          <a:p>
            <a:pPr lvl="0" indent="0" marL="0">
              <a:buNone/>
            </a:pPr>
            <a:r>
              <a:rPr b="1"/>
              <a:t>Examples:</a:t>
            </a:r>
          </a:p>
          <a:p>
            <a:pPr lvl="0" indent="-342900" marL="342900">
              <a:buAutoNum type="arabicPeriod"/>
            </a:pPr>
            <a:r>
              <a:rPr/>
              <a:t>Letter E is a vowel.</a:t>
            </a:r>
            <a:br/>
          </a:p>
          <a:p>
            <a:pPr lvl="0" indent="-342900" marL="342900">
              <a:buAutoNum type="arabicPeriod"/>
            </a:pPr>
            <a:r>
              <a:rPr/>
              <a:t>2x + 5x = 7x</a:t>
            </a:r>
            <a:br/>
          </a:p>
          <a:p>
            <a:pPr lvl="0" indent="-342900" marL="342900">
              <a:buAutoNum type="arabicPeriod"/>
            </a:pPr>
            <a:r>
              <a:rPr/>
              <a:t>Bagabag is in Nueva Vizcaya.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Compound Proposition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compound proposition</a:t>
            </a:r>
            <a:r>
              <a:rPr/>
              <a:t> is formed by connecting two or more simple propositions using logical connectors.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Logical Connectors</a:t>
            </a:r>
          </a:p>
          <a:p>
            <a:pPr lvl="0"/>
            <a:r>
              <a:rPr b="1"/>
              <a:t>~</a:t>
            </a:r>
            <a:r>
              <a:rPr/>
              <a:t> : negation (not)</a:t>
            </a:r>
            <a:br/>
          </a:p>
          <a:p>
            <a:pPr lvl="0"/>
            <a:r>
              <a:rPr b="1"/>
              <a:t>∨</a:t>
            </a:r>
            <a:r>
              <a:rPr/>
              <a:t> : or</a:t>
            </a:r>
            <a:br/>
          </a:p>
          <a:p>
            <a:pPr lvl="0"/>
            <a:r>
              <a:rPr b="1"/>
              <a:t>∧</a:t>
            </a:r>
            <a:r>
              <a:rPr/>
              <a:t> : and</a:t>
            </a:r>
            <a:br/>
          </a:p>
          <a:p>
            <a:pPr lvl="0"/>
            <a:r>
              <a:rPr b="1"/>
              <a:t>→</a:t>
            </a:r>
            <a:r>
              <a:rPr/>
              <a:t> : if… then</a:t>
            </a:r>
            <a:br/>
          </a:p>
          <a:p>
            <a:pPr lvl="0"/>
            <a:r>
              <a:rPr b="1"/>
              <a:t>↔</a:t>
            </a:r>
            <a:r>
              <a:rPr/>
              <a:t> : if and only if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 on Logical 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Let:</a:t>
            </a:r>
          </a:p>
          <a:p>
            <a:pPr lvl="0"/>
            <a:r>
              <a:rPr b="1"/>
              <a:t>p:</a:t>
            </a:r>
            <a:r>
              <a:rPr/>
              <a:t> Even numbers are divisible by 2</a:t>
            </a:r>
            <a:br/>
          </a:p>
          <a:p>
            <a:pPr lvl="0"/>
            <a:r>
              <a:rPr b="1"/>
              <a:t>q:</a:t>
            </a:r>
            <a:r>
              <a:rPr/>
              <a:t> Five is an odd number</a:t>
            </a:r>
          </a:p>
          <a:p>
            <a:pPr lvl="0" indent="0" marL="0">
              <a:buNone/>
            </a:pPr>
            <a:r>
              <a:rPr/>
              <a:t>Then:</a:t>
            </a:r>
          </a:p>
          <a:p>
            <a:pPr lvl="0"/>
            <a:r>
              <a:rPr b="1"/>
              <a:t>~p</a:t>
            </a:r>
            <a:r>
              <a:rPr/>
              <a:t> : Even numbers are </a:t>
            </a:r>
            <a:r>
              <a:rPr b="1"/>
              <a:t>not</a:t>
            </a:r>
            <a:r>
              <a:rPr/>
              <a:t> divisible by 2</a:t>
            </a:r>
            <a:br/>
          </a:p>
          <a:p>
            <a:pPr lvl="0"/>
            <a:r>
              <a:rPr b="1"/>
              <a:t>p ∨ q</a:t>
            </a:r>
            <a:r>
              <a:rPr/>
              <a:t> : Even numbers are divisible by 2 </a:t>
            </a:r>
            <a:r>
              <a:rPr b="1"/>
              <a:t>or</a:t>
            </a:r>
            <a:r>
              <a:rPr/>
              <a:t> five is an odd number</a:t>
            </a:r>
            <a:br/>
          </a:p>
          <a:p>
            <a:pPr lvl="0"/>
            <a:r>
              <a:rPr b="1"/>
              <a:t>p ∧ q</a:t>
            </a:r>
            <a:r>
              <a:rPr/>
              <a:t> : Even numbers are divisible by 2 </a:t>
            </a:r>
            <a:r>
              <a:rPr b="1"/>
              <a:t>and</a:t>
            </a:r>
            <a:r>
              <a:rPr/>
              <a:t> five is an odd number</a:t>
            </a:r>
            <a:br/>
          </a:p>
          <a:p>
            <a:pPr lvl="0"/>
            <a:r>
              <a:rPr b="1"/>
              <a:t>p → q</a:t>
            </a:r>
            <a:r>
              <a:rPr/>
              <a:t> : If even numbers are divisible by 2, then five is an odd number</a:t>
            </a:r>
            <a:br/>
          </a:p>
          <a:p>
            <a:pPr lvl="0"/>
            <a:r>
              <a:rPr b="1"/>
              <a:t>p ↔ q</a:t>
            </a:r>
            <a:r>
              <a:rPr/>
              <a:t> : Even numbers are divisible by 2 </a:t>
            </a:r>
            <a:r>
              <a:rPr i="1"/>
              <a:t>if and only if</a:t>
            </a:r>
            <a:r>
              <a:rPr/>
              <a:t> five is an odd number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Another Example</a:t>
            </a:r>
          </a:p>
          <a:p>
            <a:pPr lvl="0" indent="0" marL="0">
              <a:buNone/>
            </a:pPr>
            <a:r>
              <a:rPr/>
              <a:t>Let:</a:t>
            </a:r>
          </a:p>
          <a:p>
            <a:pPr lvl="0"/>
            <a:r>
              <a:rPr b="1"/>
              <a:t>p:</a:t>
            </a:r>
            <a:r>
              <a:rPr/>
              <a:t> The Earth is round</a:t>
            </a:r>
            <a:br/>
          </a:p>
          <a:p>
            <a:pPr lvl="0"/>
            <a:r>
              <a:rPr b="1"/>
              <a:t>q:</a:t>
            </a:r>
            <a:r>
              <a:rPr/>
              <a:t> The Moon orbits the Earth</a:t>
            </a:r>
          </a:p>
          <a:p>
            <a:pPr lvl="0" indent="0" marL="0">
              <a:buNone/>
            </a:pPr>
            <a:r>
              <a:rPr/>
              <a:t>Then:</a:t>
            </a:r>
          </a:p>
          <a:p>
            <a:pPr lvl="0"/>
            <a:r>
              <a:rPr b="1"/>
              <a:t>~p</a:t>
            </a:r>
            <a:r>
              <a:rPr/>
              <a:t> : The Earth is not round</a:t>
            </a:r>
            <a:br/>
          </a:p>
          <a:p>
            <a:pPr lvl="0"/>
            <a:r>
              <a:rPr b="1"/>
              <a:t>p ∨ q</a:t>
            </a:r>
            <a:r>
              <a:rPr/>
              <a:t> : The Earth is round or the Moon orbits the Earth</a:t>
            </a:r>
            <a:br/>
          </a:p>
          <a:p>
            <a:pPr lvl="0"/>
            <a:r>
              <a:rPr b="1"/>
              <a:t>p ∧ q</a:t>
            </a:r>
            <a:r>
              <a:rPr/>
              <a:t> : The Earth is round and the Moon orbits the Earth</a:t>
            </a:r>
            <a:br/>
          </a:p>
          <a:p>
            <a:pPr lvl="0"/>
            <a:r>
              <a:rPr b="1"/>
              <a:t>p → q</a:t>
            </a:r>
            <a:r>
              <a:rPr/>
              <a:t> : If the Earth is round, then the Moon orbits the Earth</a:t>
            </a:r>
            <a:br/>
          </a:p>
          <a:p>
            <a:pPr lvl="0"/>
            <a:r>
              <a:rPr b="1"/>
              <a:t>p ↔ q</a:t>
            </a:r>
            <a:r>
              <a:rPr/>
              <a:t> : The Earth is round if and only if the Moon orbits the Earth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1: Logical 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Given:</a:t>
            </a:r>
          </a:p>
          <a:p>
            <a:pPr lvl="0"/>
            <a:r>
              <a:rPr b="1"/>
              <a:t>p:</a:t>
            </a:r>
            <a:r>
              <a:rPr/>
              <a:t> Andrei is watching</a:t>
            </a:r>
            <a:br/>
          </a:p>
          <a:p>
            <a:pPr lvl="0"/>
            <a:r>
              <a:rPr b="1"/>
              <a:t>q:</a:t>
            </a:r>
            <a:r>
              <a:rPr/>
              <a:t> Justine shares a bond with Jane</a:t>
            </a:r>
          </a:p>
          <a:p>
            <a:pPr lvl="0" indent="0" marL="0">
              <a:buNone/>
            </a:pPr>
            <a:r>
              <a:rPr/>
              <a:t>Write the compound propositions:</a:t>
            </a:r>
          </a:p>
          <a:p>
            <a:pPr lvl="0" indent="-342900" marL="342900">
              <a:buAutoNum type="alphaLcPeriod"/>
            </a:pPr>
            <a:r>
              <a:rPr/>
              <a:t>~p</a:t>
            </a:r>
            <a:br/>
          </a:p>
          <a:p>
            <a:pPr lvl="0" indent="-342900" marL="342900">
              <a:buAutoNum type="alphaLcPeriod"/>
            </a:pPr>
            <a:r>
              <a:rPr/>
              <a:t>p ∨ q</a:t>
            </a:r>
            <a:br/>
          </a:p>
          <a:p>
            <a:pPr lvl="0" indent="-342900" marL="342900">
              <a:buAutoNum type="alphaLcPeriod"/>
            </a:pPr>
            <a:r>
              <a:rPr/>
              <a:t>p ∧ q</a:t>
            </a:r>
            <a:br/>
          </a:p>
          <a:p>
            <a:pPr lvl="0" indent="-342900" marL="342900">
              <a:buAutoNum type="alphaLcPeriod"/>
            </a:pPr>
            <a:r>
              <a:rPr/>
              <a:t>p → q</a:t>
            </a:r>
            <a:br/>
          </a:p>
          <a:p>
            <a:pPr lvl="0" indent="-342900" marL="342900">
              <a:buAutoNum type="alphaLcPeriod"/>
            </a:pPr>
            <a:r>
              <a:rPr/>
              <a:t>p ↔ q</a:t>
            </a:r>
          </a:p>
          <a:p>
            <a:pPr lvl="0" indent="0" marL="0">
              <a:buNone/>
            </a:pPr>
            <a:r>
              <a:rPr b="1"/>
              <a:t>Answer Key:</a:t>
            </a:r>
          </a:p>
          <a:p>
            <a:pPr lvl="0" indent="-342900" marL="342900">
              <a:buAutoNum type="alphaLcPeriod"/>
            </a:pPr>
            <a:r>
              <a:rPr/>
              <a:t>Andrei is not watching.</a:t>
            </a:r>
            <a:br/>
          </a:p>
          <a:p>
            <a:pPr lvl="0" indent="-342900" marL="342900">
              <a:buAutoNum type="alphaLcPeriod"/>
            </a:pPr>
            <a:r>
              <a:rPr/>
              <a:t>Andrei is watching or Justine shares a bond with Jane.</a:t>
            </a:r>
            <a:br/>
          </a:p>
          <a:p>
            <a:pPr lvl="0" indent="-342900" marL="342900">
              <a:buAutoNum type="alphaLcPeriod"/>
            </a:pPr>
            <a:r>
              <a:rPr/>
              <a:t>Andrei is watching and Justine shares a bond with Jane.</a:t>
            </a:r>
            <a:br/>
          </a:p>
          <a:p>
            <a:pPr lvl="0" indent="-342900" marL="342900">
              <a:buAutoNum type="alphaLcPeriod"/>
            </a:pPr>
            <a:r>
              <a:rPr/>
              <a:t>If Andrei is watching, then Justine shares a bond with Jane.</a:t>
            </a:r>
            <a:br/>
          </a:p>
          <a:p>
            <a:pPr lvl="0" indent="-342900" marL="342900">
              <a:buAutoNum type="alphaLcPeriod"/>
            </a:pPr>
            <a:r>
              <a:rPr/>
              <a:t>Andrei is watching if and only if Justine shares a bond with Jane.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Real-Life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Question</a:t>
            </a:r>
          </a:p>
          <a:p>
            <a:pPr lvl="0" indent="0" marL="0">
              <a:buNone/>
            </a:pPr>
            <a:r>
              <a:rPr b="1"/>
              <a:t>How can you apply the concept of propositions in real-life situations?</a:t>
            </a:r>
          </a:p>
          <a:p>
            <a:pPr lvl="0" indent="0" marL="0">
              <a:buNone/>
            </a:pPr>
            <a:r>
              <a:rPr/>
              <a:t>(Answers may vary.)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What is a proposition?</a:t>
            </a:r>
            <a:br/>
          </a:p>
          <a:p>
            <a:pPr lvl="0" indent="-342900" marL="342900">
              <a:buAutoNum type="arabicPeriod"/>
            </a:pPr>
            <a:r>
              <a:rPr/>
              <a:t>What are the two types of propositions?</a:t>
            </a:r>
            <a:br/>
          </a:p>
          <a:p>
            <a:pPr lvl="0" indent="-342900" marL="342900">
              <a:buAutoNum type="arabicPeriod"/>
            </a:pPr>
            <a:r>
              <a:rPr/>
              <a:t>Give an example of each type.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Part I. Identify if the statement is a proposition. If it is, give the truth value.</a:t>
            </a:r>
          </a:p>
          <a:p>
            <a:pPr lvl="0" indent="-342900" marL="342900">
              <a:buAutoNum type="arabicPeriod"/>
            </a:pPr>
            <a:r>
              <a:rPr/>
              <a:t>Mindanao is an island in the Philippines.</a:t>
            </a:r>
            <a:br/>
          </a:p>
          <a:p>
            <a:pPr lvl="0" indent="-342900" marL="342900">
              <a:buAutoNum type="arabicPeriod"/>
            </a:pPr>
            <a:r>
              <a:rPr/>
              <a:t>Find a number that divides your age.</a:t>
            </a:r>
            <a:br/>
          </a:p>
          <a:p>
            <a:pPr lvl="0" indent="-342900" marL="342900">
              <a:buAutoNum type="arabicPeriod"/>
            </a:pPr>
            <a:r>
              <a:rPr/>
              <a:t>My seatmate will get a perfect score in the Logic exam.</a:t>
            </a:r>
            <a:br/>
          </a:p>
          <a:p>
            <a:pPr lvl="0" indent="-342900" marL="342900">
              <a:buAutoNum type="arabicPeriod"/>
            </a:pPr>
            <a:r>
              <a:rPr/>
              <a:t>Welcome to the Philippines!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II. Symbolic Form</a:t>
            </a:r>
          </a:p>
          <a:p>
            <a:pPr lvl="0" indent="0" marL="0">
              <a:buNone/>
            </a:pPr>
            <a:r>
              <a:rPr/>
              <a:t>Let:</a:t>
            </a:r>
          </a:p>
          <a:p>
            <a:pPr lvl="0"/>
            <a:r>
              <a:rPr b="1"/>
              <a:t>p:</a:t>
            </a:r>
            <a:r>
              <a:rPr/>
              <a:t> You drive over 65 miles per hour.</a:t>
            </a:r>
            <a:br/>
          </a:p>
          <a:p>
            <a:pPr lvl="0"/>
            <a:r>
              <a:rPr b="1"/>
              <a:t>q:</a:t>
            </a:r>
            <a:r>
              <a:rPr/>
              <a:t> You get a speeding ticket.</a:t>
            </a:r>
          </a:p>
          <a:p>
            <a:pPr lvl="0" indent="0" marL="0">
              <a:buNone/>
            </a:pPr>
            <a:r>
              <a:rPr/>
              <a:t>Write the symbolic form:</a:t>
            </a:r>
          </a:p>
          <a:p>
            <a:pPr lvl="0" indent="-342900" marL="342900">
              <a:buAutoNum type="alphaLcPeriod"/>
            </a:pPr>
            <a:r>
              <a:rPr/>
              <a:t>You do not drive over 65 miles per hour.</a:t>
            </a:r>
            <a:br/>
          </a:p>
          <a:p>
            <a:pPr lvl="0" indent="-342900" marL="342900">
              <a:buAutoNum type="alphaLcPeriod"/>
            </a:pPr>
            <a:r>
              <a:rPr/>
              <a:t>You will get a speeding ticket if you drive over 65 miles per hour.</a:t>
            </a:r>
            <a:br/>
          </a:p>
          <a:p>
            <a:pPr lvl="0" indent="-342900" marL="342900">
              <a:buAutoNum type="alphaLcPeriod"/>
            </a:pPr>
            <a:r>
              <a:rPr/>
              <a:t>If you do not drive over 65 miles per hour, then you will not get a speeding ticket.</a:t>
            </a:r>
          </a:p>
          <a:p>
            <a:pPr lvl="0" indent="0" marL="0">
              <a:buNone/>
            </a:pPr>
            <a:r>
              <a:rPr b="1"/>
              <a:t>Answer Key:</a:t>
            </a:r>
          </a:p>
          <a:p>
            <a:pPr lvl="0" indent="-342900" marL="342900">
              <a:buAutoNum type="arabicPeriod"/>
            </a:pPr>
          </a:p>
          <a:p>
            <a:pPr lvl="0"/>
            <a:r>
              <a:rPr/>
              <a:t>p: Proposition – True</a:t>
            </a:r>
            <a:br/>
          </a:p>
          <a:p>
            <a:pPr lvl="0"/>
            <a:r>
              <a:rPr/>
              <a:t>q: Not a proposition (directive)</a:t>
            </a:r>
            <a:br/>
          </a:p>
          <a:p>
            <a:pPr lvl="0"/>
            <a:r>
              <a:rPr/>
              <a:t>r: Proposition – truth depends on outcome</a:t>
            </a:r>
            <a:br/>
          </a:p>
          <a:p>
            <a:pPr lvl="0"/>
            <a:r>
              <a:rPr/>
              <a:t>s: Not a proposition (greeting)</a:t>
            </a:r>
          </a:p>
          <a:p>
            <a:pPr lvl="0" indent="-342900" marL="342900">
              <a:buAutoNum startAt="2" type="arabicPeriod"/>
            </a:pPr>
          </a:p>
          <a:p>
            <a:pPr lvl="0" indent="-342900" marL="342900">
              <a:buAutoNum type="alphaLcPeriod"/>
            </a:pPr>
            <a:r>
              <a:rPr/>
              <a:t>¬p</a:t>
            </a:r>
            <a:br/>
          </a:p>
          <a:p>
            <a:pPr lvl="0" indent="-342900" marL="342900">
              <a:buAutoNum type="alphaLcPeriod"/>
            </a:pPr>
            <a:r>
              <a:rPr/>
              <a:t>p → q</a:t>
            </a:r>
            <a:br/>
          </a:p>
          <a:p>
            <a:pPr lvl="0" indent="-342900" marL="342900">
              <a:buAutoNum type="alphaLcPeriod"/>
            </a:pPr>
            <a:r>
              <a:rPr/>
              <a:t>¬p → ¬q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of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 for listening!</a:t>
            </a:r>
            <a:br/>
            <a:r>
              <a:rPr/>
              <a:t>Goodbye, class.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Logic</dc:title>
  <dc:creator>Ryan Jhon Lee Lajola</dc:creator>
  <cp:keywords/>
  <dcterms:created xsi:type="dcterms:W3CDTF">2025-11-14T10:53:26Z</dcterms:created>
  <dcterms:modified xsi:type="dcterms:W3CDTF">2025-11-14T10:53:26Z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